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6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 coefficient</c:v>
                </c:pt>
              </c:strCache>
            </c:strRef>
          </c:tx>
          <c:spPr>
            <a:ln w="31750" cap="flat" cmpd="sng" algn="ctr">
              <a:solidFill>
                <a:srgbClr val="1E3A8F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dLbl>
              <c:idx val="49"/>
              <c:delete val="1"/>
            </c:dLbl>
            <c:dLbl>
              <c:idx val="50"/>
              <c:delete val="1"/>
            </c:dLbl>
            <c:dLbl>
              <c:idx val="51"/>
              <c:delete val="1"/>
            </c:dLbl>
            <c:dLbl>
              <c:idx val="52"/>
              <c:delete val="1"/>
            </c:dLbl>
            <c:dLbl>
              <c:idx val="53"/>
              <c:delete val="1"/>
            </c:dLbl>
            <c:dLbl>
              <c:idx val="54"/>
              <c:delete val="1"/>
            </c:dLbl>
            <c:dLbl>
              <c:idx val="55"/>
              <c:delete val="1"/>
            </c:dLbl>
            <c:dLbl>
              <c:idx val="5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Sheet1!$A$2:$A$58</c:f>
              <c:numCache>
                <c:formatCode>General</c:formatCode>
                <c:ptCount val="57"/>
                <c:pt idx="8">
                  <c:v>50</c:v>
                </c:pt>
                <c:pt idx="27">
                  <c:v>70</c:v>
                </c:pt>
                <c:pt idx="37">
                  <c:v>80</c:v>
                </c:pt>
                <c:pt idx="46">
                  <c:v>90</c:v>
                </c:pt>
                <c:pt idx="56">
                  <c:v>100</c:v>
                </c:pt>
              </c:numCache>
            </c:num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0.5944</c:v>
                </c:pt>
                <c:pt idx="1">
                  <c:v>0.6147</c:v>
                </c:pt>
                <c:pt idx="2">
                  <c:v>0.6098</c:v>
                </c:pt>
                <c:pt idx="3">
                  <c:v>0.6202</c:v>
                </c:pt>
                <c:pt idx="4">
                  <c:v>0.6253</c:v>
                </c:pt>
                <c:pt idx="5">
                  <c:v>0.6278</c:v>
                </c:pt>
                <c:pt idx="6">
                  <c:v>0.6319</c:v>
                </c:pt>
                <c:pt idx="7">
                  <c:v>0.6353</c:v>
                </c:pt>
                <c:pt idx="8">
                  <c:v>0.6513</c:v>
                </c:pt>
                <c:pt idx="9">
                  <c:v>0.663</c:v>
                </c:pt>
                <c:pt idx="10">
                  <c:v>0.6508</c:v>
                </c:pt>
                <c:pt idx="11">
                  <c:v>0.6606</c:v>
                </c:pt>
                <c:pt idx="12">
                  <c:v>0.6753</c:v>
                </c:pt>
                <c:pt idx="13">
                  <c:v>0.6776</c:v>
                </c:pt>
                <c:pt idx="14">
                  <c:v>0.6739</c:v>
                </c:pt>
                <c:pt idx="15">
                  <c:v>0.6957</c:v>
                </c:pt>
                <c:pt idx="16">
                  <c:v>0.6794</c:v>
                </c:pt>
                <c:pt idx="17">
                  <c:v>0.7038</c:v>
                </c:pt>
                <c:pt idx="18">
                  <c:v>0.6766</c:v>
                </c:pt>
                <c:pt idx="19">
                  <c:v>0.7009</c:v>
                </c:pt>
                <c:pt idx="20">
                  <c:v>0.6998</c:v>
                </c:pt>
                <c:pt idx="21">
                  <c:v>0.7092</c:v>
                </c:pt>
                <c:pt idx="22">
                  <c:v>0.7001</c:v>
                </c:pt>
                <c:pt idx="23">
                  <c:v>0.7165</c:v>
                </c:pt>
                <c:pt idx="24">
                  <c:v>0.7187</c:v>
                </c:pt>
                <c:pt idx="25">
                  <c:v>0.7326</c:v>
                </c:pt>
                <c:pt idx="26">
                  <c:v>0.7278</c:v>
                </c:pt>
                <c:pt idx="27">
                  <c:v>0.7286</c:v>
                </c:pt>
                <c:pt idx="28">
                  <c:v>0.7316</c:v>
                </c:pt>
                <c:pt idx="29">
                  <c:v>0.7444</c:v>
                </c:pt>
                <c:pt idx="30">
                  <c:v>0.7399</c:v>
                </c:pt>
                <c:pt idx="31">
                  <c:v>0.749</c:v>
                </c:pt>
                <c:pt idx="32">
                  <c:v>0.7373</c:v>
                </c:pt>
                <c:pt idx="33">
                  <c:v>0.747</c:v>
                </c:pt>
                <c:pt idx="34">
                  <c:v>0.7542</c:v>
                </c:pt>
                <c:pt idx="35">
                  <c:v>0.7581</c:v>
                </c:pt>
                <c:pt idx="36">
                  <c:v>0.7537</c:v>
                </c:pt>
                <c:pt idx="37">
                  <c:v>0.7597</c:v>
                </c:pt>
                <c:pt idx="38">
                  <c:v>0.7644</c:v>
                </c:pt>
                <c:pt idx="39">
                  <c:v>0.7702</c:v>
                </c:pt>
                <c:pt idx="40">
                  <c:v>0.7584</c:v>
                </c:pt>
                <c:pt idx="41">
                  <c:v>0.7828</c:v>
                </c:pt>
                <c:pt idx="42">
                  <c:v>0.7799</c:v>
                </c:pt>
                <c:pt idx="43">
                  <c:v>0.7754</c:v>
                </c:pt>
                <c:pt idx="44">
                  <c:v>0.7915</c:v>
                </c:pt>
                <c:pt idx="45">
                  <c:v>0.7782</c:v>
                </c:pt>
                <c:pt idx="46">
                  <c:v>0.7854</c:v>
                </c:pt>
                <c:pt idx="47">
                  <c:v>0.7869</c:v>
                </c:pt>
                <c:pt idx="48">
                  <c:v>0.7922</c:v>
                </c:pt>
                <c:pt idx="49">
                  <c:v>0.7924</c:v>
                </c:pt>
                <c:pt idx="50">
                  <c:v>0.7968</c:v>
                </c:pt>
                <c:pt idx="51">
                  <c:v>0.8027</c:v>
                </c:pt>
                <c:pt idx="52">
                  <c:v>0.8016</c:v>
                </c:pt>
                <c:pt idx="53">
                  <c:v>0.8073</c:v>
                </c:pt>
                <c:pt idx="54">
                  <c:v>0.8078</c:v>
                </c:pt>
                <c:pt idx="55">
                  <c:v>0.8043</c:v>
                </c:pt>
                <c:pt idx="56">
                  <c:v>0.8199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</c:v>
                </c:pt>
              </c:strCache>
            </c:strRef>
          </c:tx>
          <c:spPr>
            <a:ln w="31750" cap="flat" cmpd="sng" algn="ctr">
              <a:solidFill>
                <a:srgbClr val="C4453B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dLbl>
              <c:idx val="27"/>
              <c:delete val="1"/>
            </c:dLbl>
            <c:dLbl>
              <c:idx val="28"/>
              <c:delete val="1"/>
            </c:dLbl>
            <c:dLbl>
              <c:idx val="29"/>
              <c:delete val="1"/>
            </c:dLbl>
            <c:dLbl>
              <c:idx val="30"/>
              <c:delete val="1"/>
            </c:dLbl>
            <c:dLbl>
              <c:idx val="31"/>
              <c:delete val="1"/>
            </c:dLbl>
            <c:dLbl>
              <c:idx val="32"/>
              <c:delete val="1"/>
            </c:dLbl>
            <c:dLbl>
              <c:idx val="33"/>
              <c:delete val="1"/>
            </c:dLbl>
            <c:dLbl>
              <c:idx val="34"/>
              <c:delete val="1"/>
            </c:dLbl>
            <c:dLbl>
              <c:idx val="35"/>
              <c:delete val="1"/>
            </c:dLbl>
            <c:dLbl>
              <c:idx val="36"/>
              <c:delete val="1"/>
            </c:dLbl>
            <c:dLbl>
              <c:idx val="37"/>
              <c:delete val="1"/>
            </c:dLbl>
            <c:dLbl>
              <c:idx val="38"/>
              <c:delete val="1"/>
            </c:dLbl>
            <c:dLbl>
              <c:idx val="39"/>
              <c:delete val="1"/>
            </c:dLbl>
            <c:dLbl>
              <c:idx val="40"/>
              <c:delete val="1"/>
            </c:dLbl>
            <c:dLbl>
              <c:idx val="41"/>
              <c:delete val="1"/>
            </c:dLbl>
            <c:dLbl>
              <c:idx val="42"/>
              <c:delete val="1"/>
            </c:dLbl>
            <c:dLbl>
              <c:idx val="43"/>
              <c:delete val="1"/>
            </c:dLbl>
            <c:dLbl>
              <c:idx val="44"/>
              <c:delete val="1"/>
            </c:dLbl>
            <c:dLbl>
              <c:idx val="45"/>
              <c:delete val="1"/>
            </c:dLbl>
            <c:dLbl>
              <c:idx val="46"/>
              <c:delete val="1"/>
            </c:dLbl>
            <c:dLbl>
              <c:idx val="47"/>
              <c:delete val="1"/>
            </c:dLbl>
            <c:dLbl>
              <c:idx val="48"/>
              <c:delete val="1"/>
            </c:dLbl>
            <c:dLbl>
              <c:idx val="49"/>
              <c:delete val="1"/>
            </c:dLbl>
            <c:dLbl>
              <c:idx val="50"/>
              <c:delete val="1"/>
            </c:dLbl>
            <c:dLbl>
              <c:idx val="51"/>
              <c:delete val="1"/>
            </c:dLbl>
            <c:dLbl>
              <c:idx val="52"/>
              <c:delete val="1"/>
            </c:dLbl>
            <c:dLbl>
              <c:idx val="53"/>
              <c:delete val="1"/>
            </c:dLbl>
            <c:dLbl>
              <c:idx val="54"/>
              <c:delete val="1"/>
            </c:dLbl>
            <c:dLbl>
              <c:idx val="55"/>
              <c:delete val="1"/>
            </c:dLbl>
            <c:dLbl>
              <c:idx val="5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7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Sheet1!$A$2:$A$58</c:f>
              <c:numCache>
                <c:formatCode>General</c:formatCode>
                <c:ptCount val="57"/>
                <c:pt idx="8">
                  <c:v>50</c:v>
                </c:pt>
                <c:pt idx="27">
                  <c:v>70</c:v>
                </c:pt>
                <c:pt idx="37">
                  <c:v>80</c:v>
                </c:pt>
                <c:pt idx="46">
                  <c:v>90</c:v>
                </c:pt>
                <c:pt idx="56">
                  <c:v>100</c:v>
                </c:pt>
              </c:numCache>
            </c:numRef>
          </c:cat>
          <c:val>
            <c:numRef>
              <c:f>Sheet1!$C$2:$C$58</c:f>
              <c:numCache>
                <c:formatCode>General</c:formatCode>
                <c:ptCount val="57"/>
                <c:pt idx="0">
                  <c:v>0.4351</c:v>
                </c:pt>
                <c:pt idx="1">
                  <c:v>0.4135</c:v>
                </c:pt>
                <c:pt idx="2">
                  <c:v>0.4188</c:v>
                </c:pt>
                <c:pt idx="3">
                  <c:v>0.4078</c:v>
                </c:pt>
                <c:pt idx="4">
                  <c:v>0.4024</c:v>
                </c:pt>
                <c:pt idx="5">
                  <c:v>0.4005</c:v>
                </c:pt>
                <c:pt idx="6">
                  <c:v>0.3958</c:v>
                </c:pt>
                <c:pt idx="7">
                  <c:v>0.3919</c:v>
                </c:pt>
                <c:pt idx="8">
                  <c:v>0.376</c:v>
                </c:pt>
                <c:pt idx="9">
                  <c:v>0.3629</c:v>
                </c:pt>
                <c:pt idx="10">
                  <c:v>0.3756</c:v>
                </c:pt>
                <c:pt idx="11">
                  <c:v>0.365</c:v>
                </c:pt>
                <c:pt idx="12">
                  <c:v>0.3497</c:v>
                </c:pt>
                <c:pt idx="13">
                  <c:v>0.3474</c:v>
                </c:pt>
                <c:pt idx="14">
                  <c:v>0.352</c:v>
                </c:pt>
                <c:pt idx="15">
                  <c:v>0.3286</c:v>
                </c:pt>
                <c:pt idx="16">
                  <c:v>0.3457</c:v>
                </c:pt>
                <c:pt idx="17">
                  <c:v>0.3196</c:v>
                </c:pt>
                <c:pt idx="18">
                  <c:v>0.3478</c:v>
                </c:pt>
                <c:pt idx="19">
                  <c:v>0.3231</c:v>
                </c:pt>
                <c:pt idx="20">
                  <c:v>0.3229</c:v>
                </c:pt>
                <c:pt idx="21">
                  <c:v>0.313</c:v>
                </c:pt>
                <c:pt idx="22">
                  <c:v>0.3231</c:v>
                </c:pt>
                <c:pt idx="23">
                  <c:v>0.3056</c:v>
                </c:pt>
                <c:pt idx="24">
                  <c:v>0.3047</c:v>
                </c:pt>
                <c:pt idx="25">
                  <c:v>0.289</c:v>
                </c:pt>
                <c:pt idx="26">
                  <c:v>0.2938</c:v>
                </c:pt>
                <c:pt idx="27">
                  <c:v>0.2927</c:v>
                </c:pt>
                <c:pt idx="28">
                  <c:v>0.2897</c:v>
                </c:pt>
                <c:pt idx="29">
                  <c:v>0.2766</c:v>
                </c:pt>
                <c:pt idx="30">
                  <c:v>0.2812</c:v>
                </c:pt>
                <c:pt idx="31">
                  <c:v>0.2713</c:v>
                </c:pt>
                <c:pt idx="32">
                  <c:v>0.2834</c:v>
                </c:pt>
                <c:pt idx="33">
                  <c:v>0.2737</c:v>
                </c:pt>
                <c:pt idx="34">
                  <c:v>0.266</c:v>
                </c:pt>
                <c:pt idx="35">
                  <c:v>0.2616</c:v>
                </c:pt>
                <c:pt idx="36">
                  <c:v>0.266</c:v>
                </c:pt>
                <c:pt idx="37">
                  <c:v>0.2601</c:v>
                </c:pt>
                <c:pt idx="38">
                  <c:v>0.2555</c:v>
                </c:pt>
                <c:pt idx="39">
                  <c:v>0.2486</c:v>
                </c:pt>
                <c:pt idx="40">
                  <c:v>0.2608</c:v>
                </c:pt>
                <c:pt idx="41">
                  <c:v>0.2356</c:v>
                </c:pt>
                <c:pt idx="42">
                  <c:v>0.2387</c:v>
                </c:pt>
                <c:pt idx="43">
                  <c:v>0.243</c:v>
                </c:pt>
                <c:pt idx="44">
                  <c:v>0.226</c:v>
                </c:pt>
                <c:pt idx="45">
                  <c:v>0.2398</c:v>
                </c:pt>
                <c:pt idx="46">
                  <c:v>0.2327</c:v>
                </c:pt>
                <c:pt idx="47">
                  <c:v>0.2307</c:v>
                </c:pt>
                <c:pt idx="48">
                  <c:v>0.2252</c:v>
                </c:pt>
                <c:pt idx="49">
                  <c:v>0.2253</c:v>
                </c:pt>
                <c:pt idx="50">
                  <c:v>0.2205</c:v>
                </c:pt>
                <c:pt idx="51">
                  <c:v>0.2141</c:v>
                </c:pt>
                <c:pt idx="52">
                  <c:v>0.2154</c:v>
                </c:pt>
                <c:pt idx="53">
                  <c:v>0.2086</c:v>
                </c:pt>
                <c:pt idx="54">
                  <c:v>0.2084</c:v>
                </c:pt>
                <c:pt idx="55">
                  <c:v>0.2119</c:v>
                </c:pt>
                <c:pt idx="56">
                  <c:v>0.1958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E6C66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DDD9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E6C66"/>
                </a:solidFill>
                <a:latin typeface="Arial" panose="020B07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6E6C66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e27b809-08e0-4334-a568-f4c7e9d7a7a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dentists miss a meaningful share of early caries on radiographs. I built a model that flags them at pixel level. One-line pipeline: annotated X-ray patches -&gt; U-Net with focal+dice loss -&gt; desktop app that draws a box around the cavity.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task: semantic segmentation, not classification. Clinicians need localization they can verify. Decision-support, not a replacement for the dentist.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patches: cavities are tiny relative to a full X-ray; shrinking a whole radiograph to 128px destroys the lesion. Patching keeps native resolution and multiplies samples. Train/val have zero filename overlap. The 3% imbalance is the key number - it drives the loss design (slide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Flips are label-preserving because a cavity patch has no canonical orientation. Augmentation is re-randomized every epoch so the network never sees the exact same tensor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connections in one line: deep layers know WHAT they're looking at, shallow layers know WHERE it is; concatenation gives both. Kept small on purpose: 128px inputs, ~5k images, Colab GPU budget. Upsampling+conv instead of transposed conv avoids checkerboard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heart of the talk. Focal: (1-p)^gamma factor means a pixel predicted at 0.9 contributes ~100x less than one at 0.1. Dice: 2*intersection/(sum), smooth epsilon guards empty masks. Sum gives stable pixel-level gradients AND direct optimization of the evaluation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numbers aloud: dice 0.82, precision 0.88, recall 0.79 at epoch 100 (training metrics; validation evaluation is the roadmap headline). Precision &gt; recall means the model under-segments: few false alarms, but it misses cavity pixels - for screening you'd rather trade the other way, hence threshold tuning in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live demo is allowed, run testing.py here on a VALIDATION image (30 seconds, high impact). Post-processing: threshold 0.5 -&gt; findContours -&gt; largest contour -&gt; area &gt; 100px noise filter -&gt; boundingRect.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Owning these findings preempts the interviewer's trap questions. If asked about the 'testing' folder: it duplicates training images, so it's a demo stash, not a test set - any metric on it would be leakage. Say it before they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why this is your favorite project: end-to-end ownership, a loss function that HAD to be engineered, and stakes that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-1051560"/>
            <a:ext cx="2834640" cy="2834640"/>
          </a:xfrm>
          <a:prstGeom prst="rect">
            <a:avLst/>
          </a:prstGeom>
        </p:spPr>
      </p:pic>
      <p:pic>
        <p:nvPicPr>
          <p:cNvPr id="3" name="Image 1" descr="deck_assets/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3063240"/>
            <a:ext cx="3108960" cy="3108960"/>
          </a:xfrm>
          <a:prstGeom prst="rect">
            <a:avLst/>
          </a:prstGeom>
        </p:spPr>
      </p:pic>
      <p:pic>
        <p:nvPicPr>
          <p:cNvPr id="4" name="Image 2" descr="deck_assets/blob_s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749040"/>
            <a:ext cx="2103120" cy="2103120"/>
          </a:xfrm>
          <a:prstGeom prst="rect">
            <a:avLst/>
          </a:prstGeom>
        </p:spPr>
      </p:pic>
      <p:pic>
        <p:nvPicPr>
          <p:cNvPr id="5" name="Image 3" descr="deck_assets/sprig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566928" cy="758952"/>
          </a:xfrm>
          <a:prstGeom prst="rect">
            <a:avLst/>
          </a:prstGeom>
        </p:spPr>
      </p:pic>
      <p:pic>
        <p:nvPicPr>
          <p:cNvPr id="6" name="Image 4" descr="deck_assets/sprig_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00">
            <a:off x="8138160" y="2377440"/>
            <a:ext cx="502920" cy="667512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6126480" y="1325880"/>
            <a:ext cx="2286000" cy="2286000"/>
          </a:xfrm>
          <a:prstGeom prst="ellipse">
            <a:avLst/>
          </a:prstGeom>
          <a:solidFill>
            <a:srgbClr val="CBDED2">
              <a:alpha val="65000"/>
            </a:srgbClr>
          </a:solidFill>
        </p:spPr>
      </p:sp>
      <p:pic>
        <p:nvPicPr>
          <p:cNvPr id="8" name="Image 5" descr="deck_assets/tooth_dood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1700784"/>
            <a:ext cx="1234440" cy="1362456"/>
          </a:xfrm>
          <a:prstGeom prst="rect">
            <a:avLst/>
          </a:prstGeom>
        </p:spPr>
      </p:pic>
      <p:pic>
        <p:nvPicPr>
          <p:cNvPr id="9" name="Image 6" descr="deck_assets/spark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1371600"/>
            <a:ext cx="274320" cy="27432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685800" y="117043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PROJECT PRESENTATION</a:t>
            </a:r>
            <a:endParaRPr lang="en-US" sz="1100" dirty="0"/>
          </a:p>
        </p:txBody>
      </p:sp>
      <p:sp>
        <p:nvSpPr>
          <p:cNvPr id="11" name="Text 2"/>
          <p:cNvSpPr/>
          <p:nvPr/>
        </p:nvSpPr>
        <p:spPr>
          <a:xfrm>
            <a:off x="658495" y="1481455"/>
            <a:ext cx="5688965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 Caries/Cavity</a:t>
            </a:r>
            <a:endParaRPr lang="en-US" sz="44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4400" dirty="0"/>
          </a:p>
        </p:txBody>
      </p:sp>
      <p:sp>
        <p:nvSpPr>
          <p:cNvPr id="12" name="Text 3"/>
          <p:cNvSpPr/>
          <p:nvPr/>
        </p:nvSpPr>
        <p:spPr>
          <a:xfrm>
            <a:off x="685800" y="3127248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caries segmentation in dental X-rays with a U-Net</a:t>
            </a:r>
            <a:endParaRPr lang="en-US" sz="1500" dirty="0"/>
          </a:p>
        </p:txBody>
      </p:sp>
      <p:sp>
        <p:nvSpPr>
          <p:cNvPr id="13" name="Text 4"/>
          <p:cNvSpPr/>
          <p:nvPr/>
        </p:nvSpPr>
        <p:spPr>
          <a:xfrm>
            <a:off x="685800" y="36758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lesions. Big consequences.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685800" y="434340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Thejasvini Boorla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5840" y="-10972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hunt for cavities with a neural network?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66928" y="1161288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417320" y="1234440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536192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caries are tiny, low-contrast smudges — even trained eyes overlook them on a busy radiograph.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233172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17320" y="2404872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not just whether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706624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classifier can't be verified. Segmentation shows the dentist exactly which pixels look carious.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3502152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417320" y="3575304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build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3877056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notebook: dataset  →  trained model  →  a small desktop app anyone can run.</a:t>
            </a:r>
            <a:endParaRPr lang="en-US" sz="1200" dirty="0"/>
          </a:p>
        </p:txBody>
      </p:sp>
      <p:pic>
        <p:nvPicPr>
          <p:cNvPr id="13" name="Image 1" descr="deck_assets/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51560"/>
            <a:ext cx="3566160" cy="3566160"/>
          </a:xfrm>
          <a:prstGeom prst="rect">
            <a:avLst/>
          </a:prstGeom>
        </p:spPr>
      </p:pic>
      <p:pic>
        <p:nvPicPr>
          <p:cNvPr id="14" name="Image 2" descr="deck_assets/overlay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72768"/>
            <a:ext cx="2331720" cy="233172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4041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patch from the dataset — cavity pixels tinted red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-1188720"/>
            <a:ext cx="2286000" cy="228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3390" y="375920"/>
            <a:ext cx="1108710" cy="337185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386715" y="403225"/>
            <a:ext cx="1269365" cy="294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DATA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5,156 tiny windows into real mouths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4,426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204825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patches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4600" y="1481328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1460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514600" y="204825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patches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688336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" y="277977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128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" y="3255264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px, grayscale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14600" y="2688336"/>
            <a:ext cx="1783080" cy="1024128"/>
          </a:xfrm>
          <a:prstGeom prst="roundRect">
            <a:avLst>
              <a:gd name="adj" fmla="val 8036"/>
            </a:avLst>
          </a:prstGeom>
          <a:solidFill>
            <a:srgbClr val="C4453B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514600" y="277977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514600" y="3255264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pixels are cavity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3950208"/>
            <a:ext cx="39319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radiographs annotated for caries (Roboflow export), cropped into patches around lesions. </a:t>
            </a:r>
            <a:r>
              <a:rPr lang="en-US" sz="1150" b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ships with a hand-drawn binary mask, paired by filename.</a:t>
            </a:r>
            <a:endParaRPr lang="en-US" sz="1150" dirty="0"/>
          </a:p>
        </p:txBody>
      </p:sp>
      <p:pic>
        <p:nvPicPr>
          <p:cNvPr id="19" name="Image 1" descr="deck_assets/xr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0" name="Image 2" descr="deck_assets/mas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32588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1" name="Image 3" descr="deck_assets/spark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929384"/>
            <a:ext cx="201168" cy="201168"/>
          </a:xfrm>
          <a:prstGeom prst="rect">
            <a:avLst/>
          </a:prstGeom>
        </p:spPr>
      </p:pic>
      <p:pic>
        <p:nvPicPr>
          <p:cNvPr id="22" name="Image 4" descr="deck_assets/xray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97180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3" name="Image 5" descr="deck_assets/mask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971800"/>
            <a:ext cx="1481328" cy="1481328"/>
          </a:xfrm>
          <a:prstGeom prst="rect">
            <a:avLst/>
          </a:prstGeom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pic>
      <p:pic>
        <p:nvPicPr>
          <p:cNvPr id="24" name="Image 6" descr="deck_assets/spark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57530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83480" y="457200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patch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6601968" y="457200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cavity mask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46605" y="467360"/>
            <a:ext cx="236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EDA 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702560" y="683260"/>
            <a:ext cx="3512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Data imbalance , loss function 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sprig_s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160520"/>
            <a:ext cx="566928" cy="7589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model-ready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67512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7512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7512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patch and mask loaded as single-channel grayscale — X-rays carry no colour.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423160" y="2395728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15768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80360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880360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880360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scaled to [0, 1] so gradients stay well-behaved.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36008" y="2395728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928616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CBDED2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93208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093208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93208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forced to strict {0, 1} — resizing leaves gray edge pixels that would poison the loss.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48856" y="2395728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141464" y="1600200"/>
            <a:ext cx="1938528" cy="210312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06056" y="17556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306056" y="221284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306056" y="2523744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epoch, every image (and its mask, in sync) may flip horizontally or vertically — free variety, no new labels.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set fits in memory (~300 MB as float32) — no generator gymnastics needed.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3566160"/>
            <a:ext cx="237744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E3A8F"/>
          </a:solidFill>
        </p:spPr>
      </p:sp>
      <p:sp>
        <p:nvSpPr>
          <p:cNvPr id="4" name="Text 1"/>
          <p:cNvSpPr/>
          <p:nvPr/>
        </p:nvSpPr>
        <p:spPr>
          <a:xfrm>
            <a:off x="548640" y="3840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compact U-Net (~1.9M parameters)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051560" y="15087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E3A8F"/>
          </a:solidFill>
        </p:spPr>
      </p:sp>
      <p:sp>
        <p:nvSpPr>
          <p:cNvPr id="7" name="Text 4"/>
          <p:cNvSpPr/>
          <p:nvPr/>
        </p:nvSpPr>
        <p:spPr>
          <a:xfrm>
            <a:off x="1051560" y="15087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 · 128px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600200" y="224028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E3A8F"/>
          </a:solidFill>
        </p:spPr>
      </p:sp>
      <p:sp>
        <p:nvSpPr>
          <p:cNvPr id="9" name="Text 6"/>
          <p:cNvSpPr/>
          <p:nvPr/>
        </p:nvSpPr>
        <p:spPr>
          <a:xfrm>
            <a:off x="1600200" y="22402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64px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48840" y="297180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1E3A8F"/>
          </a:solidFill>
        </p:spPr>
      </p:sp>
      <p:sp>
        <p:nvSpPr>
          <p:cNvPr id="11" name="Text 8"/>
          <p:cNvSpPr/>
          <p:nvPr/>
        </p:nvSpPr>
        <p:spPr>
          <a:xfrm>
            <a:off x="2148840" y="29718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· 32px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370332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2A2A2A"/>
          </a:solidFill>
        </p:spPr>
      </p:sp>
      <p:sp>
        <p:nvSpPr>
          <p:cNvPr id="13" name="Text 10"/>
          <p:cNvSpPr/>
          <p:nvPr/>
        </p:nvSpPr>
        <p:spPr>
          <a:xfrm>
            <a:off x="3291840" y="37033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· 256 · 16px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297180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8FAE9C"/>
          </a:solidFill>
        </p:spPr>
      </p:sp>
      <p:sp>
        <p:nvSpPr>
          <p:cNvPr id="15" name="Text 12"/>
          <p:cNvSpPr/>
          <p:nvPr/>
        </p:nvSpPr>
        <p:spPr>
          <a:xfrm>
            <a:off x="5394960" y="29718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· 32px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0" y="224028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8FAE9C"/>
          </a:solidFill>
        </p:spPr>
      </p:sp>
      <p:sp>
        <p:nvSpPr>
          <p:cNvPr id="17" name="Text 14"/>
          <p:cNvSpPr/>
          <p:nvPr/>
        </p:nvSpPr>
        <p:spPr>
          <a:xfrm>
            <a:off x="5943600" y="224028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64px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0" y="1508760"/>
            <a:ext cx="1371600" cy="475488"/>
          </a:xfrm>
          <a:prstGeom prst="roundRect">
            <a:avLst>
              <a:gd name="adj" fmla="val 13462"/>
            </a:avLst>
          </a:prstGeom>
          <a:solidFill>
            <a:srgbClr val="8FAE9C"/>
          </a:solidFill>
        </p:spPr>
      </p:sp>
      <p:sp>
        <p:nvSpPr>
          <p:cNvPr id="19" name="Text 16"/>
          <p:cNvSpPr/>
          <p:nvPr/>
        </p:nvSpPr>
        <p:spPr>
          <a:xfrm>
            <a:off x="6492240" y="150876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128px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23160" y="1746504"/>
            <a:ext cx="4069080" cy="0"/>
          </a:xfrm>
          <a:prstGeom prst="line">
            <a:avLst/>
          </a:prstGeom>
          <a:noFill/>
          <a:ln w="19050">
            <a:solidFill>
              <a:srgbClr val="C4453B"/>
            </a:solidFill>
            <a:prstDash val="dash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2971800" y="2478024"/>
            <a:ext cx="2971800" cy="0"/>
          </a:xfrm>
          <a:prstGeom prst="line">
            <a:avLst/>
          </a:prstGeom>
          <a:noFill/>
          <a:ln w="19050">
            <a:solidFill>
              <a:srgbClr val="C4453B"/>
            </a:solidFill>
            <a:prstDash val="dash"/>
            <a:tailEnd type="arrow"/>
          </a:ln>
        </p:spPr>
      </p:sp>
      <p:sp>
        <p:nvSpPr>
          <p:cNvPr id="22" name="Shape 19"/>
          <p:cNvSpPr/>
          <p:nvPr/>
        </p:nvSpPr>
        <p:spPr>
          <a:xfrm>
            <a:off x="3520440" y="3209544"/>
            <a:ext cx="1874520" cy="0"/>
          </a:xfrm>
          <a:prstGeom prst="line">
            <a:avLst/>
          </a:prstGeom>
          <a:noFill/>
          <a:ln w="19050">
            <a:solidFill>
              <a:srgbClr val="C4453B"/>
            </a:solidFill>
            <a:prstDash val="dash"/>
            <a:tailEnd type="arrow"/>
          </a:ln>
        </p:spPr>
      </p:sp>
      <p:sp>
        <p:nvSpPr>
          <p:cNvPr id="23" name="Text 20"/>
          <p:cNvSpPr/>
          <p:nvPr/>
        </p:nvSpPr>
        <p:spPr>
          <a:xfrm>
            <a:off x="3017520" y="117043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— copy fine detail across the U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38404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 ·  learns what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38404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 ·  recovers where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= two 3×3 convs + ReLU. Down with max-pool, up with upsampling, out through a 1×1 sigmoid conv → a per-pixel cavity probability map.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-13716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7498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be 97% accurate — and useless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4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2212848"/>
            <a:ext cx="233172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pixel accuracy of a model that just answers “no cavity, anywhere, ever.” With only ~3% cavity pixels, plain cross-entropy happily converges to exactly that.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loss had to be engineered: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3756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38728" y="157276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Focal loss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538728" y="1901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2, α = 0.25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38728" y="2240280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the millions of easy background pixels so the gradient spends itself on the hard ones — the cavity edges.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988F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73368" y="1572768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AE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loss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73368" y="19019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overlap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73368" y="2240280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predicted region directly against the true mask. Background pixels can't inflate it — imbalance-proof by construction.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37560" y="3931920"/>
            <a:ext cx="5440680" cy="731520"/>
          </a:xfrm>
          <a:prstGeom prst="roundRect">
            <a:avLst>
              <a:gd name="adj" fmla="val 11250"/>
            </a:avLst>
          </a:prstGeom>
          <a:solidFill>
            <a:srgbClr val="2A2A2A"/>
          </a:solidFill>
        </p:spPr>
      </p:sp>
      <p:sp>
        <p:nvSpPr>
          <p:cNvPr id="16" name="Text 13"/>
          <p:cNvSpPr/>
          <p:nvPr/>
        </p:nvSpPr>
        <p:spPr>
          <a:xfrm>
            <a:off x="3337560" y="3931920"/>
            <a:ext cx="5440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 =  focal  +  (1 − dice)</a:t>
            </a:r>
            <a:endParaRPr lang="en-US" sz="13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FB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recipe for small-lesion medical segmentation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C4453B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epochs on a Colab GPU (~35 min)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5212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4515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log, epochs 42–100 — steady climb, no divergence, still improving at 100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1E3A8F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08192" y="1481328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086600" y="146304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
</a:t>
            </a:r>
            <a:r>
              <a:rPr lang="en-US" sz="95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overlap score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487168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2A2A2A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08192" y="2596896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7086600" y="2578608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
</a:t>
            </a:r>
            <a:r>
              <a:rPr lang="en-US" sz="95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cries cavity, it's usually right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0" y="3602736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C4453B"/>
          </a:solidFill>
          <a:effectLst>
            <a:outerShdw blurRad="76200" dist="25400" dir="5400000" algn="bl" rotWithShape="0">
              <a:srgbClr val="9A988F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08192" y="3712464"/>
            <a:ext cx="1051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086600" y="3694176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
</a:t>
            </a:r>
            <a:r>
              <a:rPr lang="en-US" sz="95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pixels it still misses — my next battle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s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-1280160"/>
            <a:ext cx="2560320" cy="2560320"/>
          </a:xfrm>
          <a:prstGeom prst="rect">
            <a:avLst/>
          </a:prstGeom>
        </p:spPr>
      </p:pic>
      <p:pic>
        <p:nvPicPr>
          <p:cNvPr id="3" name="Image 1" descr="deck_assets/magn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28" y="32004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9260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probability map to “Cavity Detected”</a:t>
            </a:r>
            <a:endParaRPr lang="en-US" sz="2800" dirty="0"/>
          </a:p>
        </p:txBody>
      </p:sp>
      <p:pic>
        <p:nvPicPr>
          <p:cNvPr id="5" name="Image 2" descr="deck_assets/demo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783080" cy="1783080"/>
          </a:xfrm>
          <a:prstGeom prst="rect">
            <a:avLst/>
          </a:prstGeom>
          <a:effectLst>
            <a:outerShdw blurRad="889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6" name="Text 1"/>
          <p:cNvSpPr/>
          <p:nvPr/>
        </p:nvSpPr>
        <p:spPr>
          <a:xfrm>
            <a:off x="54864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 X-ray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2331720" y="2057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pic>
        <p:nvPicPr>
          <p:cNvPr id="8" name="Image 3" descr="deck_assets/demo_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371600"/>
            <a:ext cx="1783080" cy="1783080"/>
          </a:xfrm>
          <a:prstGeom prst="rect">
            <a:avLst/>
          </a:prstGeom>
          <a:effectLst>
            <a:outerShdw blurRad="889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9" name="Text 3"/>
          <p:cNvSpPr/>
          <p:nvPr/>
        </p:nvSpPr>
        <p:spPr>
          <a:xfrm>
            <a:off x="274320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predicted mask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526280" y="2057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pic>
        <p:nvPicPr>
          <p:cNvPr id="11" name="Image 4" descr="deck_assets/demo_over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371600"/>
            <a:ext cx="1783080" cy="1783080"/>
          </a:xfrm>
          <a:prstGeom prst="rect">
            <a:avLst/>
          </a:prstGeom>
          <a:effectLst>
            <a:outerShdw blurRad="889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12" name="Text 5"/>
          <p:cNvSpPr/>
          <p:nvPr/>
        </p:nvSpPr>
        <p:spPr>
          <a:xfrm>
            <a:off x="493776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pixels flagged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6720840" y="2057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pic>
        <p:nvPicPr>
          <p:cNvPr id="14" name="Image 5" descr="deck_assets/demo_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1371600"/>
            <a:ext cx="1783080" cy="1783080"/>
          </a:xfrm>
          <a:prstGeom prst="rect">
            <a:avLst/>
          </a:prstGeom>
          <a:effectLst>
            <a:outerShdw blurRad="88900" dist="25400" dir="5400000" algn="bl" rotWithShape="0">
              <a:srgbClr val="9A988F">
                <a:alpha val="40000"/>
              </a:srgbClr>
            </a:outerShdw>
          </a:effectLst>
        </p:spPr>
      </p:pic>
      <p:sp>
        <p:nvSpPr>
          <p:cNvPr id="15" name="Text 7"/>
          <p:cNvSpPr/>
          <p:nvPr/>
        </p:nvSpPr>
        <p:spPr>
          <a:xfrm>
            <a:off x="7132320" y="32186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box drawn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822960" y="3794760"/>
            <a:ext cx="7498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a tiny desktop app:  </a:t>
            </a:r>
            <a:r>
              <a:rPr lang="en-US" sz="125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X-ray in a file dialog → the U-Net predicts, OpenCV finds the largest contour, filters noise by area, and draws the red verdict — in about a second. Deep learning does the seeing; classical CV makes the call.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822960" y="4681728"/>
            <a:ext cx="7498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illustrated on a validation sample</a:t>
            </a:r>
            <a:endParaRPr lang="en-US" sz="950" dirty="0"/>
          </a:p>
        </p:txBody>
      </p:sp>
      <p:sp>
        <p:nvSpPr>
          <p:cNvPr id="18" name="Text 10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sprig_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0">
            <a:off x="8275320" y="320040"/>
            <a:ext cx="5029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fix next — my own audit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85800" y="127101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3258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63040" y="1636776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from one X-ray must never straddle train and test. My split is patch-level — honest flaw, first fix.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127101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23560" y="13258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negatives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23560" y="1636776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patch contains a cavity. Add cavity-free patches to learn what healthy looks like — and measure false alarms.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96265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463040" y="30175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the loop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463040" y="3328416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re-augmentation loop silently reset Keras early-stopping. Rebuilt with tf.data, val Dice becomes the compass.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2962656"/>
            <a:ext cx="868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623560" y="301752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Whole-mouth inference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623560" y="3328416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128px window across a full radiograph, stitch the maps — one click from patch model to clinical screen.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45262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unglamorous truths: de-identify filenames (they carry patient names) and tune that 0.5 threshold.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41080" y="48097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-1371600"/>
            <a:ext cx="2926080" cy="2926080"/>
          </a:xfrm>
          <a:prstGeom prst="rect">
            <a:avLst/>
          </a:prstGeom>
        </p:spPr>
      </p:pic>
      <p:pic>
        <p:nvPicPr>
          <p:cNvPr id="3" name="Image 1" descr="deck_assets/blob_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291840"/>
            <a:ext cx="2926080" cy="2926080"/>
          </a:xfrm>
          <a:prstGeom prst="rect">
            <a:avLst/>
          </a:prstGeom>
        </p:spPr>
      </p:pic>
      <p:pic>
        <p:nvPicPr>
          <p:cNvPr id="4" name="Image 2" descr="deck_assets/spri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0">
            <a:off x="1051560" y="3566160"/>
            <a:ext cx="640080" cy="850392"/>
          </a:xfrm>
          <a:prstGeom prst="rect">
            <a:avLst/>
          </a:prstGeom>
        </p:spPr>
      </p:pic>
      <p:pic>
        <p:nvPicPr>
          <p:cNvPr id="5" name="Image 3" descr="deck_assets/tooth_doo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914400"/>
            <a:ext cx="1051560" cy="1161288"/>
          </a:xfrm>
          <a:prstGeom prst="rect">
            <a:avLst/>
          </a:prstGeom>
        </p:spPr>
      </p:pic>
      <p:pic>
        <p:nvPicPr>
          <p:cNvPr id="6" name="Image 4" descr="deck_assets/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914400"/>
            <a:ext cx="256032" cy="256032"/>
          </a:xfrm>
          <a:prstGeom prst="rect">
            <a:avLst/>
          </a:prstGeom>
        </p:spPr>
      </p:pic>
      <p:pic>
        <p:nvPicPr>
          <p:cNvPr id="7" name="Image 5" descr="deck_assets/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234440"/>
            <a:ext cx="182880" cy="1828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3851</Words>
  <Application>WPS Presentation</Application>
  <PresentationFormat>On-screen Show (16:9)</PresentationFormat>
  <Paragraphs>230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Arial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WPS_1751728090</cp:lastModifiedBy>
  <cp:revision>2</cp:revision>
  <dcterms:created xsi:type="dcterms:W3CDTF">2026-07-18T12:14:26Z</dcterms:created>
  <dcterms:modified xsi:type="dcterms:W3CDTF">2026-07-18T12:14:26Z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1033-12.1.25898.25898</vt:lpwstr>
  </property>
  <property fmtid="{D5CDD505-2E9C-101B-9397-08002B2CF9AE}" pid="3" name="ICV">
    <vt:lpwstr>7E0CE9A94B1E76631D6E5B6A6BA34929_42</vt:lpwstr>
  </property>
</Properties>
</file>