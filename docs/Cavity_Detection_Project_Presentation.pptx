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dentists miss early caries on radiographs. I built a segmentation model that flags them pixel-by-pixel, then evaluated it honestly. Pipeline: annotated X-ray patches -&gt; U-Net (focal+dice) -&gt; desktop app that boxes the cavity.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task: semantic segmentation, not classification. Decision-support, not a replacement for the dentist.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patches: cavities are tiny vs a full X-ray; shrinking the whole radiograph destroys the lesion. Patching keeps resolution and multiplies samples. Zero filename overlap between train/val.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distributions. The near-zero pile in (a) is the imbalance. (b) motivates contrast normalization. (c)+(d): small, mostly-single lesions are what make this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'I understood my data' slide. Three takeaways: imbalance drives loss/metrics; lesions are small and everywhere; and val is sparser than train — the seed of the overfitting I found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Flips are label-preserving because a cavity patch has no canonical orientation. Note for later: flips are the ONLY augmentation — thin, which contributes to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fit: U-Net is the proven default for small-data medical segmentation. Skip connections preserve tiny-lesion detail. The alternatives are either too coarse (classifier), too heavy/data-hungry (Mask R-CNN, DeepLab, transformers), or mismatched to 128px single-class patches.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connections: deep layers know WHAT, shallow layers know WHERE; concatenation gives both. Kept small on purpose for 128px inputs and ~5k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 explain the imbalance fix in detail live. Key points: 3% cavity pixels means cross-entropy collapses to all-background. I combined focal (down-weights easy background, gamma=2) with dice (optimizes region overlap, imbalance-proof). Together: one term handles imbalance, the other targets the metric I actually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code: Drive -&gt; load_data preprocesses into in-memory tensors -&gt; build+compile U-Net -&gt; the 100x epoch loop (augment, forward, focal-dice loss + Adam backprop, callbacks) -&gt; save model and history. Callbacks monitor val_dice_coef.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round trip: FRONT user selects an image; BACK the model predicts and OpenCV post-processes (threshold, contour, area filter, box); FRONT the annotated 4-panel result and verdict return to the user — about one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headline. The wide train-vs-val gap (0.81 vs 0.21) is textbook overfitting: train loss falls, val loss stays flat. I present this as a finding I own, not a failure I hide — and the fixes slide addresses it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the real held-out numbers and explain WHY they are the right metrics. The precision/recall split tells the story: the model under-predicts cavity badly (recall 16%). Threshold tuning can't rescue it — it's an overfitting/capacity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prediction column is mostly blank — the model plays it safe and outputs little. It only nails the easy, large lesion (bottom row). Patch sensitivity 44%. This is a clear, explainable failure mode, not a mystery.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on a large, clear lesion (the model's best case). Be honest that small lesions are often missed — consistent with the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fix maps to a finding: the overfitting gap -&gt; regularization + augmentation + transfer learning; the val distribution shift -&gt; patient-level stratified splits; no negatives -&gt; add cavity-free patches. This is the maturity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why this is your favorite project: end-to-end ownership, a loss you had to engineer, and an honest evaluation that taught you more than a good score would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-1051560"/>
            <a:ext cx="2834640" cy="2834640"/>
          </a:xfrm>
          <a:prstGeom prst="rect">
            <a:avLst/>
          </a:prstGeom>
        </p:spPr>
      </p:pic>
      <p:pic>
        <p:nvPicPr>
          <p:cNvPr id="3" name="Image 1" descr="deck_assets/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3063240"/>
            <a:ext cx="3108960" cy="3108960"/>
          </a:xfrm>
          <a:prstGeom prst="rect">
            <a:avLst/>
          </a:prstGeom>
        </p:spPr>
      </p:pic>
      <p:pic>
        <p:nvPicPr>
          <p:cNvPr id="4" name="Image 2" descr="deck_assets/blob_s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749040"/>
            <a:ext cx="2103120" cy="2103120"/>
          </a:xfrm>
          <a:prstGeom prst="rect">
            <a:avLst/>
          </a:prstGeom>
        </p:spPr>
      </p:pic>
      <p:pic>
        <p:nvPicPr>
          <p:cNvPr id="5" name="Image 3" descr="deck_assets/sprig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566928" cy="758952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26480" y="1325880"/>
            <a:ext cx="2286000" cy="2286000"/>
          </a:xfrm>
          <a:prstGeom prst="ellipse">
            <a:avLst/>
          </a:prstGeom>
          <a:solidFill>
            <a:srgbClr val="CBDED2">
              <a:alpha val="65000"/>
            </a:srgbClr>
          </a:solidFill>
        </p:spPr>
      </p:sp>
      <p:pic>
        <p:nvPicPr>
          <p:cNvPr id="7" name="Image 4" descr="deck_assets/tooth_dood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1700784"/>
            <a:ext cx="1234440" cy="1362456"/>
          </a:xfrm>
          <a:prstGeom prst="rect">
            <a:avLst/>
          </a:prstGeom>
        </p:spPr>
      </p:pic>
      <p:pic>
        <p:nvPicPr>
          <p:cNvPr id="8" name="Image 5" descr="deck_assets/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1371600"/>
            <a:ext cx="274320" cy="27432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85800" y="117043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PROJECT PRESENTATION</a:t>
            </a:r>
            <a:endParaRPr lang="en-US" sz="1100" dirty="0"/>
          </a:p>
        </p:txBody>
      </p:sp>
      <p:sp>
        <p:nvSpPr>
          <p:cNvPr id="10" name="Text 2"/>
          <p:cNvSpPr/>
          <p:nvPr/>
        </p:nvSpPr>
        <p:spPr>
          <a:xfrm>
            <a:off x="658368" y="1481328"/>
            <a:ext cx="530352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 Caries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Detection-Segmentation</a:t>
            </a:r>
            <a:endParaRPr lang="en-US" sz="3600" dirty="0"/>
          </a:p>
        </p:txBody>
      </p:sp>
      <p:sp>
        <p:nvSpPr>
          <p:cNvPr id="11" name="Text 3"/>
          <p:cNvSpPr/>
          <p:nvPr/>
        </p:nvSpPr>
        <p:spPr>
          <a:xfrm>
            <a:off x="685800" y="312724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caries segmentation in dental X-rays with a </a:t>
            </a:r>
            <a:endParaRPr lang="en-US" sz="1500" dirty="0">
              <a:solidFill>
                <a:srgbClr val="2A2A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model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685800" y="36758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00" i="1" dirty="0">
                <a:solidFill>
                  <a:schemeClr val="accent6">
                    <a:lumMod val="50000"/>
                  </a:schemeClr>
                </a:solidFill>
              </a:rPr>
              <a:t>Because every cavity leaves a footprint.</a:t>
            </a:r>
            <a:endParaRPr lang="en-US" altLang="en-US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 5"/>
          <p:cNvSpPr/>
          <p:nvPr/>
        </p:nvSpPr>
        <p:spPr>
          <a:xfrm>
            <a:off x="685800" y="434340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Thejasvini Boorla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5840" y="-10972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hunt for cavities with a neural network?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66928" y="1161288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417320" y="1234440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536192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caries are tiny, low-contrast smudges — even trained eyes overlook them on a busy radiograph.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33172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17320" y="2404872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not just whether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706624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classifier can't be verified. Segmentation shows exactly which pixels look carious.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3502152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417320" y="3575304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build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3877056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notebook: dataset → trained model → a small desktop app anyone can run.</a:t>
            </a:r>
            <a:endParaRPr lang="en-US" sz="1200" dirty="0"/>
          </a:p>
        </p:txBody>
      </p:sp>
      <p:pic>
        <p:nvPicPr>
          <p:cNvPr id="13" name="Image 1" descr="deck_assets/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3566160" cy="3566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4041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patch — cavity pixels tinted red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7" name="Image 3" descr="deck_assets/demo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85" y="1978025"/>
            <a:ext cx="2063750" cy="2063750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-1188720"/>
            <a:ext cx="2286000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548640" y="3840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DATA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5,156 tiny windows of real x-rays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4,426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204825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patches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4600" y="1481328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1460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514600" y="204825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patches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688336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277977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128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" y="3255264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px, grayscale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14600" y="2688336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C4453B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514600" y="277977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514600" y="3255264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pixels are cavity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3950208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radiographs annotated for caries (</a:t>
            </a:r>
            <a:r>
              <a:rPr lang="en-US" sz="1150" b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export</a:t>
            </a:r>
            <a:r>
              <a:rPr lang="en-US" sz="11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cropped into patches around lesions. </a:t>
            </a:r>
            <a:r>
              <a:rPr lang="en-US" sz="1150" b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ships with a hand-drawn binary mask, paired by filename.</a:t>
            </a:r>
            <a:endParaRPr lang="en-US" sz="1150" dirty="0"/>
          </a:p>
        </p:txBody>
      </p:sp>
      <p:pic>
        <p:nvPicPr>
          <p:cNvPr id="19" name="Image 1" descr="deck_assets/xr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0" name="Image 2" descr="deck_assets/mas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32588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1" name="Image 3" descr="deck_assets/xray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2" name="Image 4" descr="deck_assets/mask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97180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sp>
        <p:nvSpPr>
          <p:cNvPr id="23" name="Text 16"/>
          <p:cNvSpPr/>
          <p:nvPr/>
        </p:nvSpPr>
        <p:spPr>
          <a:xfrm>
            <a:off x="4983480" y="457200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patch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601968" y="457200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cavity mask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8FAE9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actually looks like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136392" y="1261872"/>
            <a:ext cx="5705856" cy="3465576"/>
          </a:xfrm>
          <a:prstGeom prst="roundRect">
            <a:avLst>
              <a:gd name="adj" fmla="val 1583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pic>
        <p:nvPicPr>
          <p:cNvPr id="6" name="Image 0" descr="deck_assets/eda_d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371600"/>
            <a:ext cx="548640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417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182497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fraction piles up near 0% — the imbalance, made visible.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2402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0010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brightness spans 0.2–0.7 — contrast varies a lot across scans.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3063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81127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patches hold one lesion; a few hold several.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38862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51865" y="362534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lesions are only a few hundred pixels — genuinely small.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3566160"/>
            <a:ext cx="237744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8FAE9C"/>
          </a:solidFill>
        </p:spPr>
      </p:sp>
      <p:sp>
        <p:nvSpPr>
          <p:cNvPr id="4" name="Text 1"/>
          <p:cNvSpPr/>
          <p:nvPr/>
        </p:nvSpPr>
        <p:spPr>
          <a:xfrm>
            <a:off x="548640" y="3840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data before I modelled 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</p:spPr>
      </p:sp>
      <p:sp>
        <p:nvSpPr>
          <p:cNvPr id="7" name="Text 4"/>
          <p:cNvSpPr/>
          <p:nvPr/>
        </p:nvSpPr>
        <p:spPr>
          <a:xfrm>
            <a:off x="548640" y="1325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5,156 paired patches   ·   0 missing masks   ·   0 train/val leakage   ·   all 128×128   ·   masks binary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029968"/>
            <a:ext cx="146304" cy="146304"/>
          </a:xfrm>
          <a:prstGeom prst="ellipse">
            <a:avLst/>
          </a:prstGeom>
          <a:solidFill>
            <a:srgbClr val="1E3A8F"/>
          </a:solidFill>
        </p:spPr>
      </p:sp>
      <p:sp>
        <p:nvSpPr>
          <p:cNvPr id="9" name="Text 6"/>
          <p:cNvSpPr/>
          <p:nvPr/>
        </p:nvSpPr>
        <p:spPr>
          <a:xfrm>
            <a:off x="868680" y="20116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30428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3.0% (train) / 2.2% (val) of pixels are cavity — a 32:1 and 46:1 background-to-cavity ratio. This is why I use focal + dice loss and report Dice, not accuracy.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926080"/>
            <a:ext cx="146304" cy="146304"/>
          </a:xfrm>
          <a:prstGeom prst="ellipse">
            <a:avLst/>
          </a:prstGeom>
          <a:solidFill>
            <a:srgbClr val="8FAE9C"/>
          </a:solidFill>
        </p:spPr>
      </p:sp>
      <p:sp>
        <p:nvSpPr>
          <p:cNvPr id="12" name="Text 9"/>
          <p:cNvSpPr/>
          <p:nvPr/>
        </p:nvSpPr>
        <p:spPr>
          <a:xfrm>
            <a:off x="868680" y="290779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scattered lesions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8680" y="320040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one lesion per patch, many just a few hundred pixels. The spatial heatmap is diffuse (peak ≈ 0.04) — cavities appear all over, so the model must be position-robust.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3822192"/>
            <a:ext cx="146304" cy="146304"/>
          </a:xfrm>
          <a:prstGeom prst="ellipse">
            <a:avLst/>
          </a:prstGeom>
          <a:solidFill>
            <a:srgbClr val="C4453B"/>
          </a:solidFill>
        </p:spPr>
      </p:sp>
      <p:sp>
        <p:nvSpPr>
          <p:cNvPr id="15" name="Text 12"/>
          <p:cNvSpPr/>
          <p:nvPr/>
        </p:nvSpPr>
        <p:spPr>
          <a:xfrm>
            <a:off x="868680" y="380390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split that foreshadows trouble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" y="4096512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sparser than train (2.2% vs 3.0% cavity). That distribution gap is an early warning for the generalization problem I later measured.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09360" y="2057400"/>
            <a:ext cx="2423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pic>
        <p:nvPicPr>
          <p:cNvPr id="18" name="Image 1" descr="deck_assets/ed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8840"/>
            <a:ext cx="2240280" cy="1783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09360" y="406908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spatial prior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sprig_s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160520"/>
            <a:ext cx="566928" cy="7589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model-ready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67512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7512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7512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patch and mask loaded as single-channel grayscale — X-rays carry no colour.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23160" y="239572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715768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80360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880360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880360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to [0, 1] so gradients stay well-behaved.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36008" y="239572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928616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93208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093208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93208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forced to strict {0, 1} — resizing leaves gray edge pixels that would poison the loss.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48856" y="239572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141464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06056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306056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306056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epoch, every image (and mask, in sync) may flip horizontally or vertically — free variety.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set fits in memory (~300 MB as float32) — no data-generator gymnastics needed.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-13716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3840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1097280" y="38404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498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U-Net — and not the alternatives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063240" cy="3246120"/>
          </a:xfrm>
          <a:prstGeom prst="roundRect">
            <a:avLst>
              <a:gd name="adj" fmla="val 2985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15361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U-Net?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1938528"/>
            <a:ext cx="269748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encoder–decoder built for biomedical image segmentation (Ronneberger, 2015).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compresses the image to learn what; the decoder rebuilds a full-resolution mask to recover where.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copy fine detail across the “U”, so tiny lesion edges survive.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work well with only a few hundred–thousand labelled images.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0" y="13716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others?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40480" y="1737360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05072" y="1737360"/>
            <a:ext cx="46634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CNN classifier  —  </a:t>
            </a: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yes/no — no location to verify.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2450592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005072" y="2450592"/>
            <a:ext cx="46634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 —  </a:t>
            </a: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detection; heavy and box-hungry, overkill for one class on 128px patches.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0" y="3163824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05072" y="3163824"/>
            <a:ext cx="46634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(atrous conv)  —  </a:t>
            </a: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large natural scenes — needless complexity here.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0" y="3877056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005072" y="3877056"/>
            <a:ext cx="46634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/ SAM  —  </a:t>
            </a: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data-hungry; ~5k images is far too few to train them well.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3566160"/>
            <a:ext cx="237744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548640" y="3840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compact U-Net (~1.9M parameters)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051560" y="15087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E3A8F"/>
          </a:solidFill>
        </p:spPr>
      </p:sp>
      <p:sp>
        <p:nvSpPr>
          <p:cNvPr id="7" name="Text 4"/>
          <p:cNvSpPr/>
          <p:nvPr/>
        </p:nvSpPr>
        <p:spPr>
          <a:xfrm>
            <a:off x="1051560" y="15087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 · 128px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600200" y="224028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E3A8F"/>
          </a:solidFill>
        </p:spPr>
      </p:sp>
      <p:sp>
        <p:nvSpPr>
          <p:cNvPr id="9" name="Text 6"/>
          <p:cNvSpPr/>
          <p:nvPr/>
        </p:nvSpPr>
        <p:spPr>
          <a:xfrm>
            <a:off x="1600200" y="22402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64px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48840" y="297180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E3A8F"/>
          </a:solidFill>
        </p:spPr>
      </p:sp>
      <p:sp>
        <p:nvSpPr>
          <p:cNvPr id="11" name="Text 8"/>
          <p:cNvSpPr/>
          <p:nvPr/>
        </p:nvSpPr>
        <p:spPr>
          <a:xfrm>
            <a:off x="2148840" y="29718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· 32px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2A2A2A"/>
          </a:solidFill>
        </p:spPr>
      </p:sp>
      <p:sp>
        <p:nvSpPr>
          <p:cNvPr id="13" name="Text 10"/>
          <p:cNvSpPr/>
          <p:nvPr/>
        </p:nvSpPr>
        <p:spPr>
          <a:xfrm>
            <a:off x="3291840" y="37033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· 256 · 16px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297180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8FAE9C"/>
          </a:solidFill>
        </p:spPr>
      </p:sp>
      <p:sp>
        <p:nvSpPr>
          <p:cNvPr id="15" name="Text 12"/>
          <p:cNvSpPr/>
          <p:nvPr/>
        </p:nvSpPr>
        <p:spPr>
          <a:xfrm>
            <a:off x="5394960" y="29718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· 32px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224028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8FAE9C"/>
          </a:solidFill>
        </p:spPr>
      </p:sp>
      <p:sp>
        <p:nvSpPr>
          <p:cNvPr id="17" name="Text 14"/>
          <p:cNvSpPr/>
          <p:nvPr/>
        </p:nvSpPr>
        <p:spPr>
          <a:xfrm>
            <a:off x="5943600" y="22402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64px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0" y="15087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8FAE9C"/>
          </a:solidFill>
        </p:spPr>
      </p:sp>
      <p:sp>
        <p:nvSpPr>
          <p:cNvPr id="19" name="Text 16"/>
          <p:cNvSpPr/>
          <p:nvPr/>
        </p:nvSpPr>
        <p:spPr>
          <a:xfrm>
            <a:off x="6492240" y="15087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128px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23160" y="1746504"/>
            <a:ext cx="4069080" cy="0"/>
          </a:xfrm>
          <a:prstGeom prst="line">
            <a:avLst/>
          </a:prstGeom>
          <a:noFill/>
          <a:ln w="19050">
            <a:solidFill>
              <a:srgbClr val="C4453B"/>
            </a:solidFill>
            <a:prstDash val="dash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2971800" y="2478024"/>
            <a:ext cx="2971800" cy="0"/>
          </a:xfrm>
          <a:prstGeom prst="line">
            <a:avLst/>
          </a:prstGeom>
          <a:noFill/>
          <a:ln w="19050">
            <a:solidFill>
              <a:srgbClr val="C4453B"/>
            </a:solidFill>
            <a:prstDash val="dash"/>
            <a:tailEnd type="arrow"/>
          </a:ln>
        </p:spPr>
      </p:sp>
      <p:sp>
        <p:nvSpPr>
          <p:cNvPr id="22" name="Shape 19"/>
          <p:cNvSpPr/>
          <p:nvPr/>
        </p:nvSpPr>
        <p:spPr>
          <a:xfrm>
            <a:off x="3520440" y="3209544"/>
            <a:ext cx="1874520" cy="0"/>
          </a:xfrm>
          <a:prstGeom prst="line">
            <a:avLst/>
          </a:prstGeom>
          <a:noFill/>
          <a:ln w="19050">
            <a:solidFill>
              <a:srgbClr val="C4453B"/>
            </a:solidFill>
            <a:prstDash val="dash"/>
            <a:tailEnd type="arrow"/>
          </a:ln>
        </p:spPr>
      </p:sp>
      <p:sp>
        <p:nvSpPr>
          <p:cNvPr id="23" name="Text 20"/>
          <p:cNvSpPr/>
          <p:nvPr/>
        </p:nvSpPr>
        <p:spPr>
          <a:xfrm>
            <a:off x="3017520" y="117043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— copy fine detail across the U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38404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· learns what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3840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· recovers where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= two 3×3 convs + ReLU. Down with max-pool, up with upsampling, out through a 1×1 sigmoid conv → a per-pixel cavity probability map.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-13716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3840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1097280" y="3840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498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handled the class imbalance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7030A0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66420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: 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background-to-cavity pixels (~3% are cavity)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cross-entropy just predicts “all background” and scores ~98% — so I could not use 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38728" y="16276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Focal loss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38728" y="195681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2, α = 0.25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38728" y="2267712"/>
            <a:ext cx="221284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the easy background pixels so training focuses on the rare cavity ones.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38728" y="3127248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E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 stop the majority class from drowning the gradient.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72200" y="14630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73368" y="16276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AE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loss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373368" y="195681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overlap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73368" y="2267712"/>
            <a:ext cx="221284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predicted vs true region directly — background can't inflate it.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73368" y="3127248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optimizes the exact overlap metric I report.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37560" y="3950208"/>
            <a:ext cx="5440680" cy="713232"/>
          </a:xfrm>
          <a:prstGeom prst="roundRect">
            <a:avLst>
              <a:gd name="adj" fmla="val 11538"/>
            </a:avLst>
          </a:prstGeom>
          <a:solidFill>
            <a:srgbClr val="2A2A2A"/>
          </a:solidFill>
        </p:spPr>
      </p:sp>
      <p:sp>
        <p:nvSpPr>
          <p:cNvPr id="22" name="Text 19"/>
          <p:cNvSpPr/>
          <p:nvPr/>
        </p:nvSpPr>
        <p:spPr>
          <a:xfrm>
            <a:off x="3337560" y="3950208"/>
            <a:ext cx="54406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 =  focal  +  (1 − dice)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 fights imbalance, the other optimizes overlap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pipeline — how the code flows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910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Drive: images + masks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03120" y="18013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910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87452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· resize 128 · /255 · binarize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43400" y="18013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15910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87452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held in memory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63640" y="18013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5910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build_unet()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Adam + focal-dice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60920" y="237744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2578608"/>
            <a:ext cx="8275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8FAE9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40080" y="26517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loop  ×100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69480" y="30998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0" y="32735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4924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40680" y="30998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→ prob map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32735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2044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11880" y="30998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Adam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118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focal-dice → backprop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0" y="32735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69164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783080" y="30998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830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· early-stop · LR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160520"/>
            <a:ext cx="8275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 unet_cavity_final.h5  +  training_history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magnifi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32004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4453B"/>
          </a:solidFill>
        </p:spPr>
      </p:sp>
      <p:sp>
        <p:nvSpPr>
          <p:cNvPr id="4" name="Text 1"/>
          <p:cNvSpPr/>
          <p:nvPr/>
        </p:nvSpPr>
        <p:spPr>
          <a:xfrm>
            <a:off x="548640" y="38404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— front → back → front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74650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picks an X-ray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029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file dialog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971800" y="184708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429000" y="1664208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0440" y="174650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Preprocess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20440" y="2029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· resize 128 · /255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897880" y="184708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355080" y="1664208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1746504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model.predict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202996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probability map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406640" y="23957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 —  deep learning sees, classical CV decides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55080" y="2990088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46520" y="3072384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Threshold 0.5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46520" y="33558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binary mask, upscaled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989320" y="3172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29000" y="2990088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520440" y="30723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findContours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520440" y="33558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blob, area &gt; 100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63240" y="3172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2920" y="2990088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94360" y="30723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Draw box + label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" y="33558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rectangle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508760" y="37216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2920" y="400507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261104"/>
            <a:ext cx="8275320" cy="658368"/>
          </a:xfrm>
          <a:prstGeom prst="roundRect">
            <a:avLst>
              <a:gd name="adj" fmla="val 11111"/>
            </a:avLst>
          </a:prstGeom>
          <a:solidFill>
            <a:srgbClr val="2A2A2A"/>
          </a:solidFill>
          <a:effectLst>
            <a:outerShdw blurRad="76200" dist="25400" dir="5400000" algn="bl" rotWithShape="0">
              <a:srgbClr val="9A988F">
                <a:alpha val="2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94360" y="4343400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Show the user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4360" y="4626864"/>
            <a:ext cx="8092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figure: original · probability · binary mask · boxed result  +  “CAVITY DETECTED / NOT DETECTED”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C4453B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looked great — until I checked validation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93192" y="1399032"/>
            <a:ext cx="5751576" cy="2185416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pic>
        <p:nvPicPr>
          <p:cNvPr id="6" name="Image 0" descr="deck_assets/eval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532120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65760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epochs, Colab GPU (~35 min). Train Dice climbs to 0.81; validation Dice flat-lines near 0.22 and val loss never falls.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2423160" cy="868680"/>
          </a:xfrm>
          <a:prstGeom prst="roundRect">
            <a:avLst>
              <a:gd name="adj" fmla="val 9474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66420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43800" y="18105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2578608"/>
            <a:ext cx="2423160" cy="868680"/>
          </a:xfrm>
          <a:prstGeom prst="roundRect">
            <a:avLst>
              <a:gd name="adj" fmla="val 9474"/>
            </a:avLst>
          </a:prstGeom>
          <a:solidFill>
            <a:srgbClr val="C4453B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688336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543800" y="2834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Dice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3602736"/>
            <a:ext cx="2423160" cy="868680"/>
          </a:xfrm>
          <a:prstGeom prst="roundRect">
            <a:avLst>
              <a:gd name="adj" fmla="val 9474"/>
            </a:avLst>
          </a:prstGeom>
          <a:solidFill>
            <a:srgbClr val="2A2A2A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3712464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543800" y="385876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459028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the model memorised the training set → overfitting.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-128016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548640" y="38404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validation metrics (held-out set)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82880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361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219456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overlap with truth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60320" y="1463040"/>
            <a:ext cx="182880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0" y="15361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2560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70048" y="219456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stricter overlap score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2633472"/>
            <a:ext cx="1828800" cy="1024128"/>
          </a:xfrm>
          <a:prstGeom prst="roundRect">
            <a:avLst>
              <a:gd name="adj" fmla="val 8036"/>
            </a:avLst>
          </a:prstGeom>
          <a:solidFill>
            <a:srgbClr val="2A2A2A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270662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548640" y="3136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" y="336499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flags cavity, ~half are right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560320" y="2633472"/>
            <a:ext cx="1828800" cy="1024128"/>
          </a:xfrm>
          <a:prstGeom prst="roundRect">
            <a:avLst>
              <a:gd name="adj" fmla="val 8036"/>
            </a:avLst>
          </a:prstGeom>
          <a:solidFill>
            <a:srgbClr val="C4453B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560320" y="270662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2560320" y="3136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70048" y="336499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only 16% of cavity pixels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00600" y="14173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these, not accuracy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800600" y="1783080"/>
            <a:ext cx="397764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accuracy is 97.9% — and meaningless, because 97% of pixels are background.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/ IoU measure actual overlap; precision vs recall expose the behaviour.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precision, very low recall = the model is timid — it barely predicts cavity, so it misses most of them.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sweep (0.1–0.9) only nudged Dice to 0.26 — the ceiling is the model, not the cut-off.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errors tell 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8920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pic>
        <p:nvPicPr>
          <p:cNvPr id="6" name="Image 0" descr="deck_assets/eval_c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70916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42900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@ 0.5: the true-cavity row is almost all missed (1.79% vs 0.35%). Precision rises with threshold, recall keeps falling — no cut-off fixes it.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0" y="128016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pic>
        <p:nvPicPr>
          <p:cNvPr id="9" name="Image 1" descr="deck_assets/eval_sample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71600"/>
            <a:ext cx="2331720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440740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· truth · prediction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02920" y="4343400"/>
            <a:ext cx="4800600" cy="548640"/>
          </a:xfrm>
          <a:prstGeom prst="roundRect">
            <a:avLst>
              <a:gd name="adj" fmla="val 13333"/>
            </a:avLst>
          </a:prstGeom>
          <a:solidFill>
            <a:srgbClr val="C4453B"/>
          </a:solidFill>
        </p:spPr>
      </p:sp>
      <p:sp>
        <p:nvSpPr>
          <p:cNvPr id="12" name="Text 8"/>
          <p:cNvSpPr/>
          <p:nvPr/>
        </p:nvSpPr>
        <p:spPr>
          <a:xfrm>
            <a:off x="640080" y="434340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Patch-level sensitivity: 43.7% — it catches a cavity in only 319 of 730 patches.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-128016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demo app</a:t>
            </a:r>
            <a:endParaRPr lang="en-US" sz="2600" dirty="0"/>
          </a:p>
        </p:txBody>
      </p:sp>
      <p:pic>
        <p:nvPicPr>
          <p:cNvPr id="4" name="Image 1" descr="deck_assets/demo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783080" cy="1783080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54864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 X-ray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2331720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pic>
        <p:nvPicPr>
          <p:cNvPr id="7" name="Image 2" descr="deck_assets/demo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71600"/>
            <a:ext cx="1783080" cy="1783080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8" name="Text 3"/>
          <p:cNvSpPr/>
          <p:nvPr/>
        </p:nvSpPr>
        <p:spPr>
          <a:xfrm>
            <a:off x="274320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predicted mask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526280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pic>
        <p:nvPicPr>
          <p:cNvPr id="10" name="Image 3" descr="deck_assets/dem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1783080" cy="1783080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493776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pixels flagged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720840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pic>
        <p:nvPicPr>
          <p:cNvPr id="13" name="Image 4" descr="deck_assets/dem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371600"/>
            <a:ext cx="1783080" cy="1783080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14" name="Text 7"/>
          <p:cNvSpPr/>
          <p:nvPr/>
        </p:nvSpPr>
        <p:spPr>
          <a:xfrm>
            <a:off x="713232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box drawn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desktop tool:  </a:t>
            </a: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X-ray → the U-Net predicts, OpenCV finds the largest contour and draws the verdict in ~1 second. Deep learning does the seeing; classical CV makes the call.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822960" y="4681728"/>
            <a:ext cx="7498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a case the model handles well — results vary with lesion size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sprig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0">
            <a:off x="8275320" y="320040"/>
            <a:ext cx="5029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change to close the gap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85800" y="122529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28016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overfitting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1591056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dropout + batch-norm, weight decay, and far richer augmentation (rotation, brightness, elastic) — flips alone weren't enough.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46320" y="122529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23560" y="128016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data splits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1591056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train/val by source X-ray (patient-level) and stratify by cavity load, so val stops being sparser than train.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291693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463040" y="29718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negatives &amp; more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3282696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cavity-free patches to learn “healthy”, measure false alarms, and grow the ~5k set.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46320" y="291693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623560" y="29718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23560" y="3282696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pretrained encoder (ResNet / EfficientNet U-Net) to generalise from few images; tune threshold, report IoU.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45902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didn't fail me — it told me exactly where to look next.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-1371600"/>
            <a:ext cx="2926080" cy="2926080"/>
          </a:xfrm>
          <a:prstGeom prst="rect">
            <a:avLst/>
          </a:prstGeom>
        </p:spPr>
      </p:pic>
      <p:pic>
        <p:nvPicPr>
          <p:cNvPr id="3" name="Image 1" descr="deck_assets/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291840"/>
            <a:ext cx="2926080" cy="2926080"/>
          </a:xfrm>
          <a:prstGeom prst="rect">
            <a:avLst/>
          </a:prstGeom>
        </p:spPr>
      </p:pic>
      <p:pic>
        <p:nvPicPr>
          <p:cNvPr id="4" name="Image 2" descr="deck_assets/spri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0">
            <a:off x="1051560" y="3566160"/>
            <a:ext cx="640080" cy="850392"/>
          </a:xfrm>
          <a:prstGeom prst="rect">
            <a:avLst/>
          </a:prstGeom>
        </p:spPr>
      </p:pic>
      <p:pic>
        <p:nvPicPr>
          <p:cNvPr id="5" name="Image 3" descr="deck_assets/tooth_doo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914400"/>
            <a:ext cx="1051560" cy="1161288"/>
          </a:xfrm>
          <a:prstGeom prst="rect">
            <a:avLst/>
          </a:prstGeom>
        </p:spPr>
      </p:pic>
      <p:pic>
        <p:nvPicPr>
          <p:cNvPr id="6" name="Image 4" descr="deck_assets/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914400"/>
            <a:ext cx="256032" cy="256032"/>
          </a:xfrm>
          <a:prstGeom prst="rect">
            <a:avLst/>
          </a:prstGeom>
        </p:spPr>
      </p:pic>
      <p:pic>
        <p:nvPicPr>
          <p:cNvPr id="7" name="Image 5" descr="deck_assets/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234440"/>
            <a:ext cx="182880" cy="1828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9" name="Text 1"/>
          <p:cNvSpPr/>
          <p:nvPr/>
        </p:nvSpPr>
        <p:spPr>
          <a:xfrm>
            <a:off x="1371600" y="2788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especially the hard ones.</a:t>
            </a:r>
            <a:endParaRPr lang="en-US" sz="1500" dirty="0"/>
          </a:p>
        </p:txBody>
      </p:sp>
      <p:sp>
        <p:nvSpPr>
          <p:cNvPr id="10" name="Text 2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hard part was never the architecture — it was respecting the data.”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7302</Words>
  <Application>WPS Docs</Application>
  <PresentationFormat>On-screen Show (16:9)</PresentationFormat>
  <Paragraphs>463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WPS_1751728090</cp:lastModifiedBy>
  <cp:revision>4</cp:revision>
  <dcterms:created xsi:type="dcterms:W3CDTF">2026-07-23T05:34:11Z</dcterms:created>
  <dcterms:modified xsi:type="dcterms:W3CDTF">2026-07-23T05:34:11Z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1033-12.1.25898.25898</vt:lpwstr>
  </property>
  <property fmtid="{D5CDD505-2E9C-101B-9397-08002B2CF9AE}" pid="3" name="ICV">
    <vt:lpwstr>0728D110292109AAA5E15C6A64D45121_42</vt:lpwstr>
  </property>
</Properties>
</file>